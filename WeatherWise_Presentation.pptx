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WeatherWise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AI-Powered Weather Prediction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C8C8FF"/>
                </a:solidFill>
              </a:defRPr>
            </a:pPr>
            <a:r>
              <a:t>Machine Learning • Random Forest • Flask Web Application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2D3047"/>
                </a:solidFill>
              </a:defRPr>
            </a:pPr>
            <a:r>
              <a:t>• A machine learning-powered weather prediction web application</a:t>
            </a:r>
          </a:p>
          <a:p>
            <a:pPr>
              <a:spcBef>
                <a:spcPts val="1200"/>
              </a:spcBef>
              <a:defRPr sz="2000">
                <a:solidFill>
                  <a:srgbClr val="2D3047"/>
                </a:solidFill>
              </a:defRPr>
            </a:pPr>
            <a:r>
              <a:t>• Predicts rain probability based on meteorological parameters</a:t>
            </a:r>
          </a:p>
          <a:p>
            <a:pPr>
              <a:spcBef>
                <a:spcPts val="1200"/>
              </a:spcBef>
              <a:defRPr sz="2000">
                <a:solidFill>
                  <a:srgbClr val="2D3047"/>
                </a:solidFill>
              </a:defRPr>
            </a:pPr>
            <a:r>
              <a:t>• Built with Python, Flask, and scikit-learn</a:t>
            </a:r>
          </a:p>
          <a:p>
            <a:pPr>
              <a:spcBef>
                <a:spcPts val="1200"/>
              </a:spcBef>
              <a:defRPr sz="2000">
                <a:solidFill>
                  <a:srgbClr val="2D3047"/>
                </a:solidFill>
              </a:defRPr>
            </a:pPr>
            <a:r>
              <a:t>• Features modern, responsive web interface with real-time predictions</a:t>
            </a:r>
          </a:p>
          <a:p>
            <a:pPr>
              <a:spcBef>
                <a:spcPts val="1200"/>
              </a:spcBef>
              <a:defRPr sz="2000">
                <a:solidFill>
                  <a:srgbClr val="2D3047"/>
                </a:solidFill>
              </a:defRPr>
            </a:pPr>
            <a:r>
              <a:t>• Uses historical Seattle weather data for training</a:t>
            </a:r>
          </a:p>
          <a:p>
            <a:pPr>
              <a:spcBef>
                <a:spcPts val="1200"/>
              </a:spcBef>
              <a:defRPr sz="2000">
                <a:solidFill>
                  <a:srgbClr val="2D3047"/>
                </a:solidFill>
              </a:defRPr>
            </a:pPr>
            <a:r>
              <a:t>• Production-ready with RESTful API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2D3047"/>
                </a:solidFill>
              </a:defRPr>
            </a:pPr>
            <a:r>
              <a:t>• Weather prediction is crucial for daily planning and decision-making</a:t>
            </a:r>
          </a:p>
          <a:p>
            <a:pPr>
              <a:spcBef>
                <a:spcPts val="1200"/>
              </a:spcBef>
              <a:defRPr sz="2000">
                <a:solidFill>
                  <a:srgbClr val="2D3047"/>
                </a:solidFill>
              </a:defRPr>
            </a:pPr>
            <a:r>
              <a:t>• Traditional forecasting methods can be complex and inaccessible</a:t>
            </a:r>
          </a:p>
          <a:p>
            <a:pPr>
              <a:spcBef>
                <a:spcPts val="1200"/>
              </a:spcBef>
              <a:defRPr sz="2000">
                <a:solidFill>
                  <a:srgbClr val="2D3047"/>
                </a:solidFill>
              </a:defRPr>
            </a:pPr>
            <a:r>
              <a:t>• Need for simple, accurate, and user-friendly prediction tools</a:t>
            </a:r>
          </a:p>
          <a:p>
            <a:pPr>
              <a:spcBef>
                <a:spcPts val="1200"/>
              </a:spcBef>
              <a:defRPr sz="2000">
                <a:solidFill>
                  <a:srgbClr val="2D3047"/>
                </a:solidFill>
              </a:defRPr>
            </a:pPr>
            <a:r>
              <a:t>• Gap in lightweight ML-based weather applications</a:t>
            </a:r>
          </a:p>
          <a:p>
            <a:pPr>
              <a:spcBef>
                <a:spcPts val="1200"/>
              </a:spcBef>
              <a:defRPr sz="2000">
                <a:solidFill>
                  <a:srgbClr val="2D3047"/>
                </a:solidFill>
              </a:defRPr>
            </a:pPr>
            <a:r>
              <a:t>• Challenge: Build an accurate model with minimal input features</a:t>
            </a:r>
          </a:p>
          <a:p>
            <a:pPr>
              <a:spcBef>
                <a:spcPts val="1200"/>
              </a:spcBef>
              <a:defRPr sz="2000">
                <a:solidFill>
                  <a:srgbClr val="2D3047"/>
                </a:solidFill>
              </a:defRPr>
            </a:pPr>
            <a:r>
              <a:t>• Solution: Random Forest classifier with intuitive web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Dataset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2D3047"/>
                </a:solidFill>
              </a:defRPr>
            </a:pPr>
            <a:r>
              <a:t>• Source: Seattle Weather Dataset (2012-2015)</a:t>
            </a:r>
          </a:p>
          <a:p>
            <a:pPr>
              <a:spcBef>
                <a:spcPts val="1200"/>
              </a:spcBef>
              <a:defRPr sz="2000">
                <a:solidFill>
                  <a:srgbClr val="2D3047"/>
                </a:solidFill>
              </a:defRPr>
            </a:pPr>
            <a:r>
              <a:t>• Total Observations: 1,461 daily weather records</a:t>
            </a:r>
          </a:p>
          <a:p>
            <a:pPr>
              <a:spcBef>
                <a:spcPts val="1200"/>
              </a:spcBef>
              <a:defRPr sz="2000">
                <a:solidFill>
                  <a:srgbClr val="2D3047"/>
                </a:solidFill>
              </a:defRPr>
            </a:pPr>
            <a:r>
              <a:t>• Features: Precipitation, Temperature (max/min), Wind Speed</a:t>
            </a:r>
          </a:p>
          <a:p>
            <a:pPr>
              <a:spcBef>
                <a:spcPts val="1200"/>
              </a:spcBef>
              <a:defRPr sz="2000">
                <a:solidFill>
                  <a:srgbClr val="2D3047"/>
                </a:solidFill>
              </a:defRPr>
            </a:pPr>
            <a:r>
              <a:t>• Weather Classes: Drizzle, Fog, Rain, Snow, Sun</a:t>
            </a:r>
          </a:p>
          <a:p>
            <a:pPr>
              <a:spcBef>
                <a:spcPts val="1200"/>
              </a:spcBef>
              <a:defRPr sz="2000">
                <a:solidFill>
                  <a:srgbClr val="2D3047"/>
                </a:solidFill>
              </a:defRPr>
            </a:pPr>
            <a:r>
              <a:t>• Binary Target: Rain vs. No Rain classification</a:t>
            </a:r>
          </a:p>
          <a:p>
            <a:pPr>
              <a:spcBef>
                <a:spcPts val="1200"/>
              </a:spcBef>
              <a:defRPr sz="2000">
                <a:solidFill>
                  <a:srgbClr val="2D3047"/>
                </a:solidFill>
              </a:defRPr>
            </a:pPr>
            <a:r>
              <a:t>• Data Preprocessing: Cleaning, scaling, and stratified splitting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Technical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377440" cy="1463040"/>
          </a:xfrm>
          <a:prstGeom prst="roundRect">
            <a:avLst/>
          </a:prstGeom>
          <a:solidFill>
            <a:srgbClr val="E6E6FF"/>
          </a:solidFill>
          <a:ln w="254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C63FF"/>
                </a:solidFill>
              </a:defRPr>
            </a:pPr>
            <a:r>
              <a:t>Data Layer</a:t>
            </a:r>
          </a:p>
          <a:p>
            <a:pPr algn="ctr">
              <a:spcBef>
                <a:spcPts val="600"/>
              </a:spcBef>
              <a:defRPr sz="1200">
                <a:solidFill>
                  <a:srgbClr val="2D3047"/>
                </a:solidFill>
              </a:defRPr>
            </a:pPr>
            <a:r>
              <a:t>Seattle Weather Dataset</a:t>
            </a:r>
            <a:br/>
            <a:r>
              <a:t>1,461 observations</a:t>
            </a:r>
            <a:br/>
            <a:r>
              <a:t>5 weather types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828800"/>
            <a:ext cx="2377440" cy="1463040"/>
          </a:xfrm>
          <a:prstGeom prst="roundRect">
            <a:avLst/>
          </a:prstGeom>
          <a:solidFill>
            <a:srgbClr val="C8FAFA"/>
          </a:solidFill>
          <a:ln w="254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92024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C63FF"/>
                </a:solidFill>
              </a:defRPr>
            </a:pPr>
            <a:r>
              <a:t>Processing</a:t>
            </a:r>
          </a:p>
          <a:p>
            <a:pPr algn="ctr">
              <a:spcBef>
                <a:spcPts val="600"/>
              </a:spcBef>
              <a:defRPr sz="1200">
                <a:solidFill>
                  <a:srgbClr val="2D3047"/>
                </a:solidFill>
              </a:defRPr>
            </a:pPr>
            <a:r>
              <a:t>Preprocessing</a:t>
            </a:r>
            <a:br/>
            <a:r>
              <a:t>• Feature scaling</a:t>
            </a:r>
            <a:br/>
            <a:r>
              <a:t>• Data cleaning</a:t>
            </a:r>
            <a:br/>
            <a:r>
              <a:t>• Train/test split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2377440" cy="1463040"/>
          </a:xfrm>
          <a:prstGeom prst="roundRect">
            <a:avLst/>
          </a:prstGeom>
          <a:solidFill>
            <a:srgbClr val="E6E6FF"/>
          </a:solidFill>
          <a:ln w="254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59" y="192024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C63FF"/>
                </a:solidFill>
              </a:defRPr>
            </a:pPr>
            <a:r>
              <a:t>ML Model</a:t>
            </a:r>
          </a:p>
          <a:p>
            <a:pPr algn="ctr">
              <a:spcBef>
                <a:spcPts val="600"/>
              </a:spcBef>
              <a:defRPr sz="1200">
                <a:solidFill>
                  <a:srgbClr val="2D3047"/>
                </a:solidFill>
              </a:defRPr>
            </a:pPr>
            <a:r>
              <a:t>Random Forest</a:t>
            </a:r>
            <a:br/>
            <a:r>
              <a:t>200 estimators</a:t>
            </a:r>
            <a:br/>
            <a:r>
              <a:t>Binary classification</a:t>
            </a:r>
            <a:br/>
            <a:r>
              <a:t>(Rain/No Rain)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2377440" cy="1463040"/>
          </a:xfrm>
          <a:prstGeom prst="roundRect">
            <a:avLst/>
          </a:prstGeom>
          <a:solidFill>
            <a:srgbClr val="C8FAFA"/>
          </a:solidFill>
          <a:ln w="254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C63FF"/>
                </a:solidFill>
              </a:defRPr>
            </a:pPr>
            <a:r>
              <a:t>API Layer</a:t>
            </a:r>
          </a:p>
          <a:p>
            <a:pPr algn="ctr">
              <a:spcBef>
                <a:spcPts val="600"/>
              </a:spcBef>
              <a:defRPr sz="1200">
                <a:solidFill>
                  <a:srgbClr val="2D3047"/>
                </a:solidFill>
              </a:defRPr>
            </a:pPr>
            <a:r>
              <a:t>Flask REST API</a:t>
            </a:r>
            <a:br/>
            <a:r>
              <a:t>/predict endpoint</a:t>
            </a:r>
            <a:br/>
            <a:r>
              <a:t>JSON responses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3840480"/>
            <a:ext cx="2377440" cy="1463040"/>
          </a:xfrm>
          <a:prstGeom prst="roundRect">
            <a:avLst/>
          </a:prstGeom>
          <a:solidFill>
            <a:srgbClr val="E6E6FF"/>
          </a:solidFill>
          <a:ln w="254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393192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C63FF"/>
                </a:solidFill>
              </a:defRPr>
            </a:pPr>
            <a:r>
              <a:t>Frontend</a:t>
            </a:r>
          </a:p>
          <a:p>
            <a:pPr algn="ctr">
              <a:spcBef>
                <a:spcPts val="600"/>
              </a:spcBef>
              <a:defRPr sz="1200">
                <a:solidFill>
                  <a:srgbClr val="2D3047"/>
                </a:solidFill>
              </a:defRPr>
            </a:pPr>
            <a:r>
              <a:t>Interactive Web UI</a:t>
            </a:r>
            <a:br/>
            <a:r>
              <a:t>Real-time predictions</a:t>
            </a:r>
            <a:br/>
            <a:r>
              <a:t>Visual feedback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Model Features &amp; Specifications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657600" cy="4114800"/>
          </a:xfrm>
          <a:prstGeom prst="roundRect">
            <a:avLst/>
          </a:prstGeom>
          <a:solidFill>
            <a:srgbClr val="E6F0FF"/>
          </a:solidFill>
          <a:ln w="381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2918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C63FF"/>
                </a:solidFill>
              </a:defRPr>
            </a:pPr>
            <a:r>
              <a:t>Input Features</a:t>
            </a:r>
          </a:p>
          <a:p>
            <a:pPr>
              <a:spcBef>
                <a:spcPts val="1200"/>
              </a:spcBef>
              <a:defRPr sz="1800">
                <a:solidFill>
                  <a:srgbClr val="2D3047"/>
                </a:solidFill>
              </a:defRPr>
            </a:pPr>
            <a:r>
              <a:t>✓ Precipitation (mm)</a:t>
            </a:r>
          </a:p>
          <a:p>
            <a:pPr>
              <a:spcBef>
                <a:spcPts val="1200"/>
              </a:spcBef>
              <a:defRPr sz="1800">
                <a:solidFill>
                  <a:srgbClr val="2D3047"/>
                </a:solidFill>
              </a:defRPr>
            </a:pPr>
            <a:r>
              <a:t>✓ Maximum Temperature (°C)</a:t>
            </a:r>
          </a:p>
          <a:p>
            <a:pPr>
              <a:spcBef>
                <a:spcPts val="1200"/>
              </a:spcBef>
              <a:defRPr sz="1800">
                <a:solidFill>
                  <a:srgbClr val="2D3047"/>
                </a:solidFill>
              </a:defRPr>
            </a:pPr>
            <a:r>
              <a:t>✓ Minimum Temperature (°C)</a:t>
            </a:r>
          </a:p>
          <a:p>
            <a:pPr>
              <a:spcBef>
                <a:spcPts val="1200"/>
              </a:spcBef>
              <a:defRPr sz="1800">
                <a:solidFill>
                  <a:srgbClr val="2D3047"/>
                </a:solidFill>
              </a:defRPr>
            </a:pPr>
            <a:r>
              <a:t>✓ Wind Speed (km/h)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828800"/>
            <a:ext cx="3657600" cy="4114800"/>
          </a:xfrm>
          <a:prstGeom prst="roundRect">
            <a:avLst/>
          </a:prstGeom>
          <a:solidFill>
            <a:srgbClr val="FFF0E6"/>
          </a:solidFill>
          <a:ln w="38100">
            <a:solidFill>
              <a:srgbClr val="FF6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2011680"/>
            <a:ext cx="32918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6B8B"/>
                </a:solidFill>
              </a:defRPr>
            </a:pPr>
            <a:r>
              <a:t>Model Specifications</a:t>
            </a:r>
          </a:p>
          <a:p>
            <a:pPr>
              <a:spcBef>
                <a:spcPts val="1000"/>
              </a:spcBef>
              <a:defRPr sz="1600">
                <a:solidFill>
                  <a:srgbClr val="2D3047"/>
                </a:solidFill>
              </a:defRPr>
            </a:pPr>
            <a:r>
              <a:t>◆ Algorithm: Random Forest</a:t>
            </a:r>
          </a:p>
          <a:p>
            <a:pPr>
              <a:spcBef>
                <a:spcPts val="1000"/>
              </a:spcBef>
              <a:defRPr sz="1600">
                <a:solidFill>
                  <a:srgbClr val="2D3047"/>
                </a:solidFill>
              </a:defRPr>
            </a:pPr>
            <a:r>
              <a:t>◆ Estimators: 200 trees</a:t>
            </a:r>
          </a:p>
          <a:p>
            <a:pPr>
              <a:spcBef>
                <a:spcPts val="1000"/>
              </a:spcBef>
              <a:defRPr sz="1600">
                <a:solidFill>
                  <a:srgbClr val="2D3047"/>
                </a:solidFill>
              </a:defRPr>
            </a:pPr>
            <a:r>
              <a:t>◆ Balanced class weights</a:t>
            </a:r>
          </a:p>
          <a:p>
            <a:pPr>
              <a:spcBef>
                <a:spcPts val="1000"/>
              </a:spcBef>
              <a:defRPr sz="1600">
                <a:solidFill>
                  <a:srgbClr val="2D3047"/>
                </a:solidFill>
              </a:defRPr>
            </a:pPr>
            <a:r>
              <a:t>◆ Train/Test: 80/20 split</a:t>
            </a:r>
          </a:p>
          <a:p>
            <a:pPr>
              <a:spcBef>
                <a:spcPts val="1000"/>
              </a:spcBef>
              <a:defRPr sz="1600">
                <a:solidFill>
                  <a:srgbClr val="2D3047"/>
                </a:solidFill>
              </a:defRPr>
            </a:pPr>
            <a:r>
              <a:t>◆ Standardized features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Results &amp;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1645920" cy="16459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92.4%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Overall 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2011680"/>
            <a:ext cx="1645920" cy="164592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228600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30175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Trees in Forest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2011680"/>
            <a:ext cx="1645920" cy="1645920"/>
          </a:xfrm>
          <a:prstGeom prst="roundRect">
            <a:avLst/>
          </a:prstGeom>
          <a:solidFill>
            <a:srgbClr val="36D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28600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1,461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30175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Training Samples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2011680"/>
            <a:ext cx="1645920" cy="164592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228600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0175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Weather Classes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14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C63FF"/>
                </a:solidFill>
              </a:defRPr>
            </a:pPr>
            <a:r>
              <a:t>Key Achievements</a:t>
            </a:r>
          </a:p>
          <a:p>
            <a:pPr>
              <a:spcBef>
                <a:spcPts val="800"/>
              </a:spcBef>
              <a:defRPr sz="1600">
                <a:solidFill>
                  <a:srgbClr val="2D3047"/>
                </a:solidFill>
              </a:defRPr>
            </a:pPr>
            <a:r>
              <a:t>✓ Accurate binary rain prediction with high confidence</a:t>
            </a:r>
          </a:p>
          <a:p>
            <a:pPr>
              <a:spcBef>
                <a:spcPts val="800"/>
              </a:spcBef>
              <a:defRPr sz="1600">
                <a:solidFill>
                  <a:srgbClr val="2D3047"/>
                </a:solidFill>
              </a:defRPr>
            </a:pPr>
            <a:r>
              <a:t>✓ Real-time predictions through responsive web interface</a:t>
            </a:r>
          </a:p>
          <a:p>
            <a:pPr>
              <a:spcBef>
                <a:spcPts val="800"/>
              </a:spcBef>
              <a:defRPr sz="1600">
                <a:solidFill>
                  <a:srgbClr val="2D3047"/>
                </a:solidFill>
              </a:defRPr>
            </a:pPr>
            <a:r>
              <a:t>✓ Robust preprocessing pipeline with feature standardization</a:t>
            </a:r>
          </a:p>
          <a:p>
            <a:pPr>
              <a:spcBef>
                <a:spcPts val="800"/>
              </a:spcBef>
              <a:defRPr sz="1600">
                <a:solidFill>
                  <a:srgbClr val="2D3047"/>
                </a:solidFill>
              </a:defRPr>
            </a:pPr>
            <a:r>
              <a:t>✓ Production-ready Flask API with scalable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Web Application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657600" cy="914400"/>
          </a:xfrm>
          <a:prstGeom prst="roundRect">
            <a:avLst/>
          </a:prstGeom>
          <a:solidFill>
            <a:srgbClr val="F0F0FF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C63FF"/>
                </a:solidFill>
              </a:defRPr>
            </a:pPr>
            <a:r>
              <a:t>🎨 Modern UI/UX</a:t>
            </a:r>
          </a:p>
          <a:p>
            <a:pPr>
              <a:spcBef>
                <a:spcPts val="400"/>
              </a:spcBef>
              <a:defRPr sz="1200">
                <a:solidFill>
                  <a:srgbClr val="2D3047"/>
                </a:solidFill>
              </a:defRPr>
            </a:pPr>
            <a:r>
              <a:t>Responsive design with animated gradients and smooth transitions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828800"/>
            <a:ext cx="3657600" cy="914400"/>
          </a:xfrm>
          <a:prstGeom prst="roundRect">
            <a:avLst/>
          </a:prstGeom>
          <a:solidFill>
            <a:srgbClr val="F0F0FF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92040" y="19202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C63FF"/>
                </a:solidFill>
              </a:defRPr>
            </a:pPr>
            <a:r>
              <a:t>📊 Real-time Predictions</a:t>
            </a:r>
          </a:p>
          <a:p>
            <a:pPr>
              <a:spcBef>
                <a:spcPts val="400"/>
              </a:spcBef>
              <a:defRPr sz="1200">
                <a:solidFill>
                  <a:srgbClr val="2D3047"/>
                </a:solidFill>
              </a:defRPr>
            </a:pPr>
            <a:r>
              <a:t>Instant weather forecasting with confidence scores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3657600" cy="914400"/>
          </a:xfrm>
          <a:prstGeom prst="roundRect">
            <a:avLst/>
          </a:prstGeom>
          <a:solidFill>
            <a:srgbClr val="F0F0FF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C63FF"/>
                </a:solidFill>
              </a:defRPr>
            </a:pPr>
            <a:r>
              <a:t>🔄 Interactive Forms</a:t>
            </a:r>
          </a:p>
          <a:p>
            <a:pPr>
              <a:spcBef>
                <a:spcPts val="400"/>
              </a:spcBef>
              <a:defRPr sz="1200">
                <a:solidFill>
                  <a:srgbClr val="2D3047"/>
                </a:solidFill>
              </a:defRPr>
            </a:pPr>
            <a:r>
              <a:t>Dynamic input validation and visual feedback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3017520"/>
            <a:ext cx="3657600" cy="914400"/>
          </a:xfrm>
          <a:prstGeom prst="roundRect">
            <a:avLst/>
          </a:prstGeom>
          <a:solidFill>
            <a:srgbClr val="F0F0FF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31089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C63FF"/>
                </a:solidFill>
              </a:defRPr>
            </a:pPr>
            <a:r>
              <a:t>📈 Probability Display</a:t>
            </a:r>
          </a:p>
          <a:p>
            <a:pPr>
              <a:spcBef>
                <a:spcPts val="400"/>
              </a:spcBef>
              <a:defRPr sz="1200">
                <a:solidFill>
                  <a:srgbClr val="2D3047"/>
                </a:solidFill>
              </a:defRPr>
            </a:pPr>
            <a:r>
              <a:t>Visual confidence meters showing prediction certainty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06240"/>
            <a:ext cx="3657600" cy="914400"/>
          </a:xfrm>
          <a:prstGeom prst="roundRect">
            <a:avLst/>
          </a:prstGeom>
          <a:solidFill>
            <a:srgbClr val="F0F0FF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297679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C63FF"/>
                </a:solidFill>
              </a:defRPr>
            </a:pPr>
            <a:r>
              <a:t>💡 Smart Recommendations</a:t>
            </a:r>
          </a:p>
          <a:p>
            <a:pPr>
              <a:spcBef>
                <a:spcPts val="400"/>
              </a:spcBef>
              <a:defRPr sz="1200">
                <a:solidFill>
                  <a:srgbClr val="2D3047"/>
                </a:solidFill>
              </a:defRPr>
            </a:pPr>
            <a:r>
              <a:t>Context-aware suggestions based on predictions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4206240"/>
            <a:ext cx="3657600" cy="914400"/>
          </a:xfrm>
          <a:prstGeom prst="roundRect">
            <a:avLst/>
          </a:prstGeom>
          <a:solidFill>
            <a:srgbClr val="F0F0FF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4297679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C63FF"/>
                </a:solidFill>
              </a:defRPr>
            </a:pPr>
            <a:r>
              <a:t>🌐 RESTful API</a:t>
            </a:r>
          </a:p>
          <a:p>
            <a:pPr>
              <a:spcBef>
                <a:spcPts val="400"/>
              </a:spcBef>
              <a:defRPr sz="1200">
                <a:solidFill>
                  <a:srgbClr val="2D3047"/>
                </a:solidFill>
              </a:defRPr>
            </a:pPr>
            <a:r>
              <a:t>JSON-based API for seamless integration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2D3047"/>
                </a:solidFill>
              </a:defRPr>
            </a:pPr>
            <a:r>
              <a:t>• Multi-class weather prediction (sun, rain, snow, fog, etc.)</a:t>
            </a:r>
          </a:p>
          <a:p>
            <a:pPr>
              <a:spcBef>
                <a:spcPts val="1200"/>
              </a:spcBef>
              <a:defRPr sz="2000">
                <a:solidFill>
                  <a:srgbClr val="2D3047"/>
                </a:solidFill>
              </a:defRPr>
            </a:pPr>
            <a:r>
              <a:t>• Integration with real-time weather APIs</a:t>
            </a:r>
          </a:p>
          <a:p>
            <a:pPr>
              <a:spcBef>
                <a:spcPts val="1200"/>
              </a:spcBef>
              <a:defRPr sz="2000">
                <a:solidFill>
                  <a:srgbClr val="2D3047"/>
                </a:solidFill>
              </a:defRPr>
            </a:pPr>
            <a:r>
              <a:t>• Historical weather data visualization and trends</a:t>
            </a:r>
          </a:p>
          <a:p>
            <a:pPr>
              <a:spcBef>
                <a:spcPts val="1200"/>
              </a:spcBef>
              <a:defRPr sz="2000">
                <a:solidFill>
                  <a:srgbClr val="2D3047"/>
                </a:solidFill>
              </a:defRPr>
            </a:pPr>
            <a:r>
              <a:t>• Location-based predictions using geolocation</a:t>
            </a:r>
          </a:p>
          <a:p>
            <a:pPr>
              <a:spcBef>
                <a:spcPts val="1200"/>
              </a:spcBef>
              <a:defRPr sz="2000">
                <a:solidFill>
                  <a:srgbClr val="2D3047"/>
                </a:solidFill>
              </a:defRPr>
            </a:pPr>
            <a:r>
              <a:t>• Mobile application development (iOS/Android)</a:t>
            </a:r>
          </a:p>
          <a:p>
            <a:pPr>
              <a:spcBef>
                <a:spcPts val="1200"/>
              </a:spcBef>
              <a:defRPr sz="2000">
                <a:solidFill>
                  <a:srgbClr val="2D3047"/>
                </a:solidFill>
              </a:defRPr>
            </a:pPr>
            <a:r>
              <a:t>• Advanced ensemble methods and deep learning models</a:t>
            </a:r>
          </a:p>
          <a:p>
            <a:pPr>
              <a:spcBef>
                <a:spcPts val="1200"/>
              </a:spcBef>
              <a:defRPr sz="2000">
                <a:solidFill>
                  <a:srgbClr val="2D3047"/>
                </a:solidFill>
              </a:defRPr>
            </a:pPr>
            <a:r>
              <a:t>• User accounts with saved prediction history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2D3047"/>
                </a:solidFill>
              </a:defRPr>
            </a:pPr>
            <a:r>
              <a:t>• Backend: Python 3.x with Flask framework</a:t>
            </a:r>
          </a:p>
          <a:p>
            <a:pPr>
              <a:spcBef>
                <a:spcPts val="1200"/>
              </a:spcBef>
              <a:defRPr sz="2000">
                <a:solidFill>
                  <a:srgbClr val="2D3047"/>
                </a:solidFill>
              </a:defRPr>
            </a:pPr>
            <a:r>
              <a:t>• ML Library: scikit-learn (Random Forest Classifier)</a:t>
            </a:r>
          </a:p>
          <a:p>
            <a:pPr>
              <a:spcBef>
                <a:spcPts val="1200"/>
              </a:spcBef>
              <a:defRPr sz="2000">
                <a:solidFill>
                  <a:srgbClr val="2D3047"/>
                </a:solidFill>
              </a:defRPr>
            </a:pPr>
            <a:r>
              <a:t>• Data Processing: pandas, NumPy</a:t>
            </a:r>
          </a:p>
          <a:p>
            <a:pPr>
              <a:spcBef>
                <a:spcPts val="1200"/>
              </a:spcBef>
              <a:defRPr sz="2000">
                <a:solidFill>
                  <a:srgbClr val="2D3047"/>
                </a:solidFill>
              </a:defRPr>
            </a:pPr>
            <a:r>
              <a:t>• Visualization: matplotlib, seaborn</a:t>
            </a:r>
          </a:p>
          <a:p>
            <a:pPr>
              <a:spcBef>
                <a:spcPts val="1200"/>
              </a:spcBef>
              <a:defRPr sz="2000">
                <a:solidFill>
                  <a:srgbClr val="2D3047"/>
                </a:solidFill>
              </a:defRPr>
            </a:pPr>
            <a:r>
              <a:t>• Frontend: HTML5, CSS3, JavaScript (Vanilla)</a:t>
            </a:r>
          </a:p>
          <a:p>
            <a:pPr>
              <a:spcBef>
                <a:spcPts val="1200"/>
              </a:spcBef>
              <a:defRPr sz="2000">
                <a:solidFill>
                  <a:srgbClr val="2D3047"/>
                </a:solidFill>
              </a:defRPr>
            </a:pPr>
            <a:r>
              <a:t>• Model Persistence: joblib for serialization</a:t>
            </a:r>
          </a:p>
          <a:p>
            <a:pPr>
              <a:spcBef>
                <a:spcPts val="1200"/>
              </a:spcBef>
              <a:defRPr sz="2000">
                <a:solidFill>
                  <a:srgbClr val="2D3047"/>
                </a:solidFill>
              </a:defRPr>
            </a:pPr>
            <a:r>
              <a:t>• Development: Git version control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i="1">
                <a:solidFill>
                  <a:srgbClr val="FFFFFF"/>
                </a:solidFill>
              </a:defRPr>
            </a:pPr>
            <a:r>
              <a:t>WeatherWise - Predicting Tomorrow,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FF"/>
                </a:solidFill>
              </a:defRPr>
            </a:pPr>
            <a:r>
              <a:t>Questions &amp; Feedback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